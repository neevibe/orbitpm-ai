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rbitpm-ai/public/logo-ful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834640" cy="6178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3736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Enterprise Project &amp; Portfolio Management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58368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strategy meets execution.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58368" y="3794760"/>
            <a:ext cx="621792" cy="384048"/>
          </a:xfrm>
          <a:prstGeom prst="roundRect">
            <a:avLst>
              <a:gd name="adj" fmla="val 47619"/>
            </a:avLst>
          </a:prstGeom>
          <a:solidFill>
            <a:srgbClr val="17305A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37947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444752" y="3794760"/>
            <a:ext cx="1225296" cy="384048"/>
          </a:xfrm>
          <a:prstGeom prst="roundRect">
            <a:avLst>
              <a:gd name="adj" fmla="val 47619"/>
            </a:avLst>
          </a:prstGeom>
          <a:solidFill>
            <a:srgbClr val="17305A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44752" y="37947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/ CTO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34640" y="3794760"/>
            <a:ext cx="621792" cy="384048"/>
          </a:xfrm>
          <a:prstGeom prst="roundRect">
            <a:avLst>
              <a:gd name="adj" fmla="val 47619"/>
            </a:avLst>
          </a:prstGeom>
          <a:solidFill>
            <a:srgbClr val="17305A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34640" y="37947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21024" y="3794760"/>
            <a:ext cx="1627632" cy="384048"/>
          </a:xfrm>
          <a:prstGeom prst="roundRect">
            <a:avLst>
              <a:gd name="adj" fmla="val 47619"/>
            </a:avLst>
          </a:prstGeom>
          <a:solidFill>
            <a:srgbClr val="17305A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21024" y="37947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13248" y="3794760"/>
            <a:ext cx="1225296" cy="384048"/>
          </a:xfrm>
          <a:prstGeom prst="roundRect">
            <a:avLst>
              <a:gd name="adj" fmla="val 47619"/>
            </a:avLst>
          </a:prstGeom>
          <a:solidFill>
            <a:srgbClr val="17305A"/>
          </a:solidFill>
          <a:ln w="12700">
            <a:solidFill>
              <a:srgbClr val="2A4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3248" y="37947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00" dirty="0"/>
          </a:p>
        </p:txBody>
      </p:sp>
      <p:pic>
        <p:nvPicPr>
          <p:cNvPr id="15" name="Image 1" descr="/home/user/orbitpm-ai/deck-assets/brand/xy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17720"/>
            <a:ext cx="1554480" cy="1554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31720" y="5257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briefing · Product vision, capabilities &amp; business case</a:t>
            </a:r>
            <a:endParaRPr lang="en-US" sz="1100" dirty="0"/>
          </a:p>
        </p:txBody>
      </p:sp>
      <p:pic>
        <p:nvPicPr>
          <p:cNvPr id="17" name="Image 2" descr="/home/user/orbitpm-ai/deck-assets/framed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143000"/>
            <a:ext cx="5852160" cy="3871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Enterprises don’t fail at strategy — they fail at execution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202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285292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transformation programmes miss cost, time or value targets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01568" y="1737360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19202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02736" y="285292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for every $1B spent, on average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1737360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9202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55664" y="285292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PMO leaders lack real-time portfolio visibility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07424" y="1737360"/>
            <a:ext cx="2688336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3144" y="1920240"/>
            <a:ext cx="2596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hrs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308592" y="285292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manager / week lost to manual reporting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3159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548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200" dirty="0"/>
          </a:p>
        </p:txBody>
      </p:sp>
      <p:pic>
        <p:nvPicPr>
          <p:cNvPr id="19" name="Image 0" descr="/home/user/orbitpm-ai/deck-assets/icons/arrow-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5038344"/>
            <a:ext cx="274320" cy="2743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2926080" y="475488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EF2FB"/>
          </a:solidFill>
          <a:ln/>
        </p:spPr>
      </p:sp>
      <p:sp>
        <p:nvSpPr>
          <p:cNvPr id="21" name="Text 18"/>
          <p:cNvSpPr/>
          <p:nvPr/>
        </p:nvSpPr>
        <p:spPr>
          <a:xfrm>
            <a:off x="3017520" y="47548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</a:t>
            </a:r>
            <a:endParaRPr lang="en-US" sz="1200" dirty="0"/>
          </a:p>
        </p:txBody>
      </p:sp>
      <p:pic>
        <p:nvPicPr>
          <p:cNvPr id="22" name="Image 1" descr="/home/user/orbitpm-ai/deck-assets/icons/arrow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038344"/>
            <a:ext cx="274320" cy="2743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303520" y="475488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EF2FB"/>
          </a:solidFill>
          <a:ln/>
        </p:spPr>
      </p:sp>
      <p:sp>
        <p:nvSpPr>
          <p:cNvPr id="24" name="Text 20"/>
          <p:cNvSpPr/>
          <p:nvPr/>
        </p:nvSpPr>
        <p:spPr>
          <a:xfrm>
            <a:off x="5394960" y="47548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escalation</a:t>
            </a:r>
            <a:endParaRPr lang="en-US" sz="1200" dirty="0"/>
          </a:p>
        </p:txBody>
      </p:sp>
      <p:pic>
        <p:nvPicPr>
          <p:cNvPr id="25" name="Image 2" descr="/home/user/orbitpm-ai/deck-assets/icons/arrow-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038344"/>
            <a:ext cx="274320" cy="2743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680960" y="475488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EEF2FB"/>
          </a:solidFill>
          <a:ln/>
        </p:spPr>
      </p:sp>
      <p:sp>
        <p:nvSpPr>
          <p:cNvPr id="27" name="Text 22"/>
          <p:cNvSpPr/>
          <p:nvPr/>
        </p:nvSpPr>
        <p:spPr>
          <a:xfrm>
            <a:off x="7772400" y="47548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schedule overrun</a:t>
            </a:r>
            <a:endParaRPr lang="en-US" sz="1200" dirty="0"/>
          </a:p>
        </p:txBody>
      </p:sp>
      <p:pic>
        <p:nvPicPr>
          <p:cNvPr id="28" name="Image 3" descr="/home/user/orbitpm-ai/deck-assets/icons/arrow-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5038344"/>
            <a:ext cx="274320" cy="27432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058400" y="4754880"/>
            <a:ext cx="2084832" cy="868680"/>
          </a:xfrm>
          <a:prstGeom prst="roundRect">
            <a:avLst>
              <a:gd name="adj" fmla="val 10526"/>
            </a:avLst>
          </a:prstGeom>
          <a:solidFill>
            <a:srgbClr val="FBEBEA"/>
          </a:solidFill>
          <a:ln/>
        </p:spPr>
      </p:sp>
      <p:sp>
        <p:nvSpPr>
          <p:cNvPr id="30" name="Text 24"/>
          <p:cNvSpPr/>
          <p:nvPr/>
        </p:nvSpPr>
        <p:spPr>
          <a:xfrm>
            <a:off x="10149840" y="475488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executive trust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benchmarks — replace with your own baseline where available.</a:t>
            </a:r>
            <a:endParaRPr lang="en-US" sz="950" dirty="0"/>
          </a:p>
        </p:txBody>
      </p:sp>
      <p:pic>
        <p:nvPicPr>
          <p:cNvPr id="32" name="Image 4" descr="/home/user/orbitpm-ai/public/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00800"/>
            <a:ext cx="1234440" cy="19566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3808476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XYRENIS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AI-native system of record,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89204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385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563EB"/>
          </a:solidFill>
          <a:ln/>
        </p:spPr>
      </p:sp>
      <p:pic>
        <p:nvPicPr>
          <p:cNvPr id="6" name="Image 0" descr="/home/user/orbitpm-ai/deck-assets/icons/compas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756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8653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44752" y="21945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Roadmaps, milestones &amp; structured intake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89204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03580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891B2"/>
          </a:solidFill>
          <a:ln/>
        </p:spPr>
      </p:sp>
      <p:pic>
        <p:nvPicPr>
          <p:cNvPr id="11" name="Image 1" descr="/home/user/orbitpm-ai/deck-assets/icons/gri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729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44752" y="29626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44752" y="329184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Kanban, Gantt &amp; dependencies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489204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1330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7C3AED"/>
          </a:solidFill>
          <a:ln/>
        </p:spPr>
      </p:sp>
      <p:pic>
        <p:nvPicPr>
          <p:cNvPr id="16" name="Image 2" descr="/home/user/orbitpm-ai/deck-assets/icons/briefcas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7024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40599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44752" y="438912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Departments, subdivisions &amp; ownership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4892040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52303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2350"/>
          </a:solidFill>
          <a:ln/>
        </p:spPr>
      </p:sp>
      <p:pic>
        <p:nvPicPr>
          <p:cNvPr id="21" name="Image 3" descr="/home/user/orbitpm-ai/deck-assets/icons/cpu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6752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51572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444752" y="548640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Xyro AI + live analytics turn data into decisions</a:t>
            </a:r>
            <a:endParaRPr lang="en-US" sz="1150" dirty="0"/>
          </a:p>
        </p:txBody>
      </p:sp>
      <p:pic>
        <p:nvPicPr>
          <p:cNvPr id="24" name="Image 4" descr="/home/user/orbitpm-ai/deck-assets/framed/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691640"/>
            <a:ext cx="5989320" cy="396216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806440" y="5806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 stack of point tools with one governed source of truth.</a:t>
            </a:r>
            <a:endParaRPr lang="en-US" sz="1250" dirty="0"/>
          </a:p>
        </p:txBody>
      </p:sp>
      <p:pic>
        <p:nvPicPr>
          <p:cNvPr id="26" name="Image 5" descr="/home/user/orbitpm-ai/public/logo-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00800"/>
            <a:ext cx="1234440" cy="19566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3808476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system for enterprise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pic>
        <p:nvPicPr>
          <p:cNvPr id="6" name="Image 0" descr="/home/user/orbitpm-ai/deck-assets/icons/arrow-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7832" y="1737360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93008" y="160020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sp>
        <p:nvSpPr>
          <p:cNvPr id="8" name="Text 5"/>
          <p:cNvSpPr/>
          <p:nvPr/>
        </p:nvSpPr>
        <p:spPr>
          <a:xfrm>
            <a:off x="3493008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pic>
        <p:nvPicPr>
          <p:cNvPr id="9" name="Image 1" descr="/home/user/orbitpm-ai/deck-assets/icons/arrow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37376" y="160020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sp>
        <p:nvSpPr>
          <p:cNvPr id="11" name="Text 7"/>
          <p:cNvSpPr/>
          <p:nvPr/>
        </p:nvSpPr>
        <p:spPr>
          <a:xfrm>
            <a:off x="6437376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400" dirty="0"/>
          </a:p>
        </p:txBody>
      </p:sp>
      <p:pic>
        <p:nvPicPr>
          <p:cNvPr id="12" name="Image 2" descr="/home/user/orbitpm-ai/deck-assets/icons/arrow-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568" y="1737360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381744" y="160020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0F2350"/>
          </a:solidFill>
          <a:ln/>
        </p:spPr>
      </p:sp>
      <p:sp>
        <p:nvSpPr>
          <p:cNvPr id="14" name="Text 9"/>
          <p:cNvSpPr/>
          <p:nvPr/>
        </p:nvSpPr>
        <p:spPr>
          <a:xfrm>
            <a:off x="9381744" y="1600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2514600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3232" y="277063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17" name="Image 3" descr="/home/user/orbitpm-ai/deck-assets/icons/layout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89864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251460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Center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3374136" y="2514600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538728" y="277063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21" name="Image 4" descr="/home/user/orbitpm-ai/deck-assets/icons/grid-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744" y="2898648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97096" y="251460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199632" y="2514600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364224" y="277063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25" name="Image 5" descr="/home/user/orbitpm-ai/deck-assets/icons/briefcase-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898648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22592" y="251460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1450" dirty="0"/>
          </a:p>
        </p:txBody>
      </p:sp>
      <p:sp>
        <p:nvSpPr>
          <p:cNvPr id="27" name="Shape 19"/>
          <p:cNvSpPr/>
          <p:nvPr/>
        </p:nvSpPr>
        <p:spPr>
          <a:xfrm>
            <a:off x="9025128" y="2514600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189720" y="277063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29" name="Image 6" descr="/home/user/orbitpm-ai/deck-assets/icons/columns-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736" y="2898648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848088" y="251460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</a:t>
            </a:r>
            <a:endParaRPr lang="en-US" sz="1450" dirty="0"/>
          </a:p>
        </p:txBody>
      </p:sp>
      <p:sp>
        <p:nvSpPr>
          <p:cNvPr id="31" name="Shape 22"/>
          <p:cNvSpPr/>
          <p:nvPr/>
        </p:nvSpPr>
        <p:spPr>
          <a:xfrm>
            <a:off x="548640" y="3721608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13232" y="397764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33" name="Image 7" descr="/home/user/orbitpm-ai/deck-assets/icons/bar-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4105656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371600" y="3721608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</a:t>
            </a:r>
            <a:endParaRPr lang="en-US" sz="1450" dirty="0"/>
          </a:p>
        </p:txBody>
      </p:sp>
      <p:sp>
        <p:nvSpPr>
          <p:cNvPr id="35" name="Shape 25"/>
          <p:cNvSpPr/>
          <p:nvPr/>
        </p:nvSpPr>
        <p:spPr>
          <a:xfrm>
            <a:off x="3374136" y="3721608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3538728" y="397764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37" name="Image 8" descr="/home/user/orbitpm-ai/deck-assets/icons/calendar-acc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6744" y="4105656"/>
            <a:ext cx="256032" cy="25603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197096" y="3721608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</a:t>
            </a:r>
            <a:endParaRPr lang="en-US" sz="1450" dirty="0"/>
          </a:p>
        </p:txBody>
      </p:sp>
      <p:sp>
        <p:nvSpPr>
          <p:cNvPr id="39" name="Shape 28"/>
          <p:cNvSpPr/>
          <p:nvPr/>
        </p:nvSpPr>
        <p:spPr>
          <a:xfrm>
            <a:off x="6199632" y="3721608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6364224" y="397764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41" name="Image 9" descr="/home/user/orbitpm-ai/deck-assets/icons/dollar-acc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4105656"/>
            <a:ext cx="256032" cy="25603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022592" y="3721608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Budgets</a:t>
            </a:r>
            <a:endParaRPr lang="en-US" sz="1450" dirty="0"/>
          </a:p>
        </p:txBody>
      </p:sp>
      <p:sp>
        <p:nvSpPr>
          <p:cNvPr id="43" name="Shape 31"/>
          <p:cNvSpPr/>
          <p:nvPr/>
        </p:nvSpPr>
        <p:spPr>
          <a:xfrm>
            <a:off x="9025128" y="3721608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9189720" y="397764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45" name="Image 10" descr="/home/user/orbitpm-ai/deck-assets/icons/git-acce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7736" y="4105656"/>
            <a:ext cx="256032" cy="25603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9848088" y="3721608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</a:t>
            </a:r>
            <a:endParaRPr lang="en-US" sz="1450" dirty="0"/>
          </a:p>
        </p:txBody>
      </p:sp>
      <p:sp>
        <p:nvSpPr>
          <p:cNvPr id="47" name="Shape 34"/>
          <p:cNvSpPr/>
          <p:nvPr/>
        </p:nvSpPr>
        <p:spPr>
          <a:xfrm>
            <a:off x="548640" y="4928616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48" name="Shape 35"/>
          <p:cNvSpPr/>
          <p:nvPr/>
        </p:nvSpPr>
        <p:spPr>
          <a:xfrm>
            <a:off x="713232" y="51846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49" name="Image 11" descr="/home/user/orbitpm-ai/deck-assets/icons/alert-accen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248" y="5312664"/>
            <a:ext cx="256032" cy="256032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1371600" y="4928616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</a:t>
            </a:r>
            <a:endParaRPr lang="en-US" sz="1450" dirty="0"/>
          </a:p>
        </p:txBody>
      </p:sp>
      <p:sp>
        <p:nvSpPr>
          <p:cNvPr id="51" name="Shape 37"/>
          <p:cNvSpPr/>
          <p:nvPr/>
        </p:nvSpPr>
        <p:spPr>
          <a:xfrm>
            <a:off x="3374136" y="4928616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52" name="Shape 38"/>
          <p:cNvSpPr/>
          <p:nvPr/>
        </p:nvSpPr>
        <p:spPr>
          <a:xfrm>
            <a:off x="3538728" y="51846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53" name="Image 12" descr="/home/user/orbitpm-ai/deck-assets/icons/users-accen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66744" y="5312664"/>
            <a:ext cx="256032" cy="256032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4197096" y="4928616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</a:t>
            </a:r>
            <a:endParaRPr lang="en-US" sz="1450" dirty="0"/>
          </a:p>
        </p:txBody>
      </p:sp>
      <p:sp>
        <p:nvSpPr>
          <p:cNvPr id="55" name="Shape 40"/>
          <p:cNvSpPr/>
          <p:nvPr/>
        </p:nvSpPr>
        <p:spPr>
          <a:xfrm>
            <a:off x="6199632" y="4928616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56" name="Shape 41"/>
          <p:cNvSpPr/>
          <p:nvPr/>
        </p:nvSpPr>
        <p:spPr>
          <a:xfrm>
            <a:off x="6364224" y="51846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57" name="Image 13" descr="/home/user/orbitpm-ai/deck-assets/icons/zap-accen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5312664"/>
            <a:ext cx="256032" cy="256032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022592" y="4928616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450" dirty="0"/>
          </a:p>
        </p:txBody>
      </p:sp>
      <p:sp>
        <p:nvSpPr>
          <p:cNvPr id="59" name="Shape 43"/>
          <p:cNvSpPr/>
          <p:nvPr/>
        </p:nvSpPr>
        <p:spPr>
          <a:xfrm>
            <a:off x="9025128" y="4928616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CBD5E1">
                <a:alpha val="35000"/>
              </a:srgbClr>
            </a:outerShdw>
          </a:effectLst>
        </p:spPr>
      </p:sp>
      <p:sp>
        <p:nvSpPr>
          <p:cNvPr id="60" name="Shape 44"/>
          <p:cNvSpPr/>
          <p:nvPr/>
        </p:nvSpPr>
        <p:spPr>
          <a:xfrm>
            <a:off x="9189720" y="5184648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EF2FB"/>
          </a:solidFill>
          <a:ln/>
        </p:spPr>
      </p:sp>
      <p:pic>
        <p:nvPicPr>
          <p:cNvPr id="61" name="Image 14" descr="/home/user/orbitpm-ai/deck-assets/icons/shield-accen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17736" y="5312664"/>
            <a:ext cx="256032" cy="256032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848088" y="4928616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450" dirty="0"/>
          </a:p>
        </p:txBody>
      </p:sp>
      <p:pic>
        <p:nvPicPr>
          <p:cNvPr id="63" name="Image 15" descr="/home/user/orbitpm-ai/public/logo-mar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640" y="6400800"/>
            <a:ext cx="1234440" cy="195669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5" name="Text 47"/>
          <p:cNvSpPr/>
          <p:nvPr/>
        </p:nvSpPr>
        <p:spPr>
          <a:xfrm>
            <a:off x="3808476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delivery, fully instrumented</a:t>
            </a:r>
            <a:endParaRPr lang="en-US" sz="3000" dirty="0"/>
          </a:p>
        </p:txBody>
      </p:sp>
      <p:pic>
        <p:nvPicPr>
          <p:cNvPr id="4" name="Image 0" descr="/home/user/orbitpm-ai/deck-assets/framed/kan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18488"/>
            <a:ext cx="2743200" cy="18147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1832" y="34515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 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Flow-based execution</a:t>
            </a:r>
            <a:endParaRPr lang="en-US" sz="1300" dirty="0"/>
          </a:p>
        </p:txBody>
      </p:sp>
      <p:pic>
        <p:nvPicPr>
          <p:cNvPr id="6" name="Image 1" descr="/home/user/orbitpm-ai/deck-assets/framed/gant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618488"/>
            <a:ext cx="2743200" cy="18147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72584" y="34515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 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Critical-path scheduling</a:t>
            </a:r>
            <a:endParaRPr lang="en-US" sz="1300" dirty="0"/>
          </a:p>
        </p:txBody>
      </p:sp>
      <p:pic>
        <p:nvPicPr>
          <p:cNvPr id="8" name="Image 2" descr="/home/user/orbitpm-ai/deck-assets/framed/project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618488"/>
            <a:ext cx="2743200" cy="18147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03336" y="34515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Budgets  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₹ budget per project</a:t>
            </a:r>
            <a:endParaRPr lang="en-US" sz="1300" dirty="0"/>
          </a:p>
        </p:txBody>
      </p:sp>
      <p:pic>
        <p:nvPicPr>
          <p:cNvPr id="10" name="Image 3" descr="/home/user/orbitpm-ai/deck-assets/framed/ris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082444"/>
            <a:ext cx="2743200" cy="18147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1832" y="5915465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 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&amp; owned</a:t>
            </a:r>
            <a:endParaRPr lang="en-US" sz="1300" dirty="0"/>
          </a:p>
        </p:txBody>
      </p:sp>
      <p:pic>
        <p:nvPicPr>
          <p:cNvPr id="12" name="Image 4" descr="/home/user/orbitpm-ai/deck-assets/framed/analytic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082444"/>
            <a:ext cx="2743200" cy="18147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672584" y="5915465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Board-ready, one click</a:t>
            </a:r>
            <a:endParaRPr lang="en-US" sz="1300" dirty="0"/>
          </a:p>
        </p:txBody>
      </p:sp>
      <p:pic>
        <p:nvPicPr>
          <p:cNvPr id="14" name="Image 5" descr="/home/user/orbitpm-ai/deck-assets/framed/dependenci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082444"/>
            <a:ext cx="2743200" cy="18147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403336" y="5915465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 </a:t>
            </a:r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blockers visible</a:t>
            </a:r>
            <a:endParaRPr lang="en-US" sz="1300" dirty="0"/>
          </a:p>
        </p:txBody>
      </p:sp>
      <p:pic>
        <p:nvPicPr>
          <p:cNvPr id="16" name="Image 6" descr="/home/user/orbitpm-ai/public/logo-m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00800"/>
            <a:ext cx="1234440" cy="19566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9"/>
          <p:cNvSpPr/>
          <p:nvPr/>
        </p:nvSpPr>
        <p:spPr>
          <a:xfrm>
            <a:off x="3808476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XYRO AI COPILOT</a:t>
            </a:r>
            <a:endParaRPr lang="en-US" sz="1200" dirty="0"/>
          </a:p>
        </p:txBody>
      </p:sp>
      <p:pic>
        <p:nvPicPr>
          <p:cNvPr id="3" name="Image 0" descr="/home/user/orbitpm-ai/deck-assets/brand/xy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33832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analyst on every desk — not a chatbot</a:t>
            </a:r>
            <a:endParaRPr lang="en-US" sz="3000" dirty="0"/>
          </a:p>
        </p:txBody>
      </p:sp>
      <p:pic>
        <p:nvPicPr>
          <p:cNvPr id="5" name="Image 1" descr="/home/user/orbitpm-ai/deck-assets/icon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315968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7552" y="42976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portfolio anything, in plain language</a:t>
            </a:r>
            <a:endParaRPr lang="en-US" sz="1300" dirty="0"/>
          </a:p>
        </p:txBody>
      </p:sp>
      <p:pic>
        <p:nvPicPr>
          <p:cNvPr id="7" name="Image 2" descr="/home/user/orbitpm-ai/deck-assets/icons/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18304"/>
            <a:ext cx="237744" cy="2377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7552" y="47000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status, risk &amp; budget-variance summaries</a:t>
            </a:r>
            <a:endParaRPr lang="en-US" sz="1300" dirty="0"/>
          </a:p>
        </p:txBody>
      </p:sp>
      <p:pic>
        <p:nvPicPr>
          <p:cNvPr id="9" name="Image 3" descr="/home/user/orbitpm-ai/deck-assets/icons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120640"/>
            <a:ext cx="237744" cy="23774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87552" y="510235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 work &amp; recommends the next action</a:t>
            </a:r>
            <a:endParaRPr lang="en-US" sz="1300" dirty="0"/>
          </a:p>
        </p:txBody>
      </p:sp>
      <p:pic>
        <p:nvPicPr>
          <p:cNvPr id="11" name="Image 4" descr="/home/user/orbitpm-ai/deck-assets/icons/che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5522976"/>
            <a:ext cx="237744" cy="23774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87552" y="550468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reports and roadmaps automatically</a:t>
            </a:r>
            <a:endParaRPr lang="en-US" sz="1300" dirty="0"/>
          </a:p>
        </p:txBody>
      </p:sp>
      <p:pic>
        <p:nvPicPr>
          <p:cNvPr id="13" name="Image 5" descr="/home/user/orbitpm-ai/deck-assets/icons/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5925312"/>
            <a:ext cx="237744" cy="23774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87552" y="590702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on live data — it never invents numbers</a:t>
            </a:r>
            <a:endParaRPr lang="en-US" sz="1300" dirty="0"/>
          </a:p>
        </p:txBody>
      </p:sp>
      <p:pic>
        <p:nvPicPr>
          <p:cNvPr id="15" name="Image 6" descr="/home/user/orbitpm-ai/deck-assets/framed/xyro-pane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097280"/>
            <a:ext cx="5577840" cy="3689956"/>
          </a:xfrm>
          <a:prstGeom prst="rect">
            <a:avLst/>
          </a:prstGeom>
        </p:spPr>
      </p:pic>
      <p:pic>
        <p:nvPicPr>
          <p:cNvPr id="16" name="Image 7" descr="/home/user/orbitpm-ai/public/logo-m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00800"/>
            <a:ext cx="1234440" cy="195669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8"/>
          <p:cNvSpPr/>
          <p:nvPr/>
        </p:nvSpPr>
        <p:spPr>
          <a:xfrm>
            <a:off x="3808476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platform pairing portfolio governance with AI on live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0" cy="457200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164592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1645920"/>
            <a:ext cx="98298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776472" y="164592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2020" y="1645920"/>
            <a:ext cx="982980" cy="457200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9" name="Text 7"/>
          <p:cNvSpPr/>
          <p:nvPr/>
        </p:nvSpPr>
        <p:spPr>
          <a:xfrm>
            <a:off x="4759452" y="164592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0" y="1645920"/>
            <a:ext cx="982980" cy="457200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11" name="Text 9"/>
          <p:cNvSpPr/>
          <p:nvPr/>
        </p:nvSpPr>
        <p:spPr>
          <a:xfrm>
            <a:off x="5742432" y="164592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Proj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97980" y="1645920"/>
            <a:ext cx="982980" cy="457200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13" name="Text 11"/>
          <p:cNvSpPr/>
          <p:nvPr/>
        </p:nvSpPr>
        <p:spPr>
          <a:xfrm>
            <a:off x="6725412" y="164592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80960" y="1645920"/>
            <a:ext cx="982980" cy="457200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15" name="Text 13"/>
          <p:cNvSpPr/>
          <p:nvPr/>
        </p:nvSpPr>
        <p:spPr>
          <a:xfrm>
            <a:off x="7708392" y="164592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63940" y="1645920"/>
            <a:ext cx="982980" cy="457200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17" name="Text 15"/>
          <p:cNvSpPr/>
          <p:nvPr/>
        </p:nvSpPr>
        <p:spPr>
          <a:xfrm>
            <a:off x="8691372" y="164592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ClickUp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46920" y="1645920"/>
            <a:ext cx="982980" cy="457200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19" name="Text 17"/>
          <p:cNvSpPr/>
          <p:nvPr/>
        </p:nvSpPr>
        <p:spPr>
          <a:xfrm>
            <a:off x="9674352" y="164592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629900" y="1645920"/>
            <a:ext cx="982980" cy="457200"/>
          </a:xfrm>
          <a:prstGeom prst="rect">
            <a:avLst/>
          </a:prstGeom>
          <a:solidFill>
            <a:srgbClr val="0F2350"/>
          </a:solidFill>
          <a:ln/>
        </p:spPr>
      </p:sp>
      <p:sp>
        <p:nvSpPr>
          <p:cNvPr id="21" name="Text 19"/>
          <p:cNvSpPr/>
          <p:nvPr/>
        </p:nvSpPr>
        <p:spPr>
          <a:xfrm>
            <a:off x="10657332" y="1645920"/>
            <a:ext cx="92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on live 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0" y="2103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32020" y="2103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15000" y="2103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97980" y="2103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80960" y="2103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63940" y="2103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46920" y="2103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629900" y="2103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2560320"/>
            <a:ext cx="11064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49040" y="2560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32020" y="2560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715000" y="2560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97980" y="2560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80960" y="2560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63940" y="2560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46920" y="2560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629900" y="2560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subdivision hierarchy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749040" y="3017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32020" y="3017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715000" y="3017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697980" y="3017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680960" y="3017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663940" y="3017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646920" y="3017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629900" y="3017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48640" y="3474720"/>
            <a:ext cx="11064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749040" y="34747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732020" y="34747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715000" y="34747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697980" y="34747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680960" y="34747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663940" y="34747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646920" y="34747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0629900" y="34747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governance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749040" y="39319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4732020" y="39319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715000" y="39319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697980" y="39319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7680960" y="39319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8663940" y="39319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9646920" y="39319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10629900" y="39319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8368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+ Kanban + Dependencies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3749040" y="4389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4732020" y="4389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5715000" y="4389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6697980" y="4389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7680960" y="4389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8663940" y="4389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9646920" y="4389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10629900" y="43891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8368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capacity planning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3749040" y="4846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4732020" y="4846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5715000" y="4846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6697980" y="4846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7680960" y="4846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8663940" y="4846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9646920" y="4846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10629900" y="48463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58368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portfolio insight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3749040" y="5303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4732020" y="5303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5715000" y="5303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6697980" y="5303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7680960" y="5303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8663940" y="5303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9646920" y="5303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10629900" y="5303520"/>
            <a:ext cx="982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548640" y="5833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  </a:t>
            </a:r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 </a:t>
            </a:r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  </a:t>
            </a:r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pic>
        <p:nvPicPr>
          <p:cNvPr id="103" name="Image 0" descr="/home/user/orbitpm-ai/public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234440" cy="195669"/>
          </a:xfrm>
          <a:prstGeom prst="rect">
            <a:avLst/>
          </a:prstGeom>
        </p:spPr>
      </p:pic>
      <p:sp>
        <p:nvSpPr>
          <p:cNvPr id="104" name="Text 101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3808476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executives can measure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92224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9260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slip detection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9392" y="164592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62272" y="1792224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−13 hrs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480560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removed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9260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manager / week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10144" y="164592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3024" y="1792224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211312" y="257860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utilisation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11312" y="29260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capacity-matched 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490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49808" y="453542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delays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488289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blockers exposed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9392" y="3602736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62272" y="37490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480560" y="453542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visibility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88289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line of sight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10144" y="3602736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93024" y="37490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211312" y="453542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success rate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11312" y="488289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ownership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outcomes based on enterprise PPM benchmarks; realised value varies by baseline maturity.</a:t>
            </a:r>
            <a:endParaRPr lang="en-US" sz="950" dirty="0"/>
          </a:p>
        </p:txBody>
      </p:sp>
      <p:pic>
        <p:nvPicPr>
          <p:cNvPr id="29" name="Image 0" descr="/home/user/orbitpm-ai/public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234440" cy="195669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808476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live control to autonomous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74597" y="1645920"/>
            <a:ext cx="9012326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8293" y="1499616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2051914" cy="3566160"/>
          </a:xfrm>
          <a:prstGeom prst="roundRect">
            <a:avLst>
              <a:gd name="adj" fmla="val 4456"/>
            </a:avLst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148840"/>
            <a:ext cx="1777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" y="249631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059669"/>
          </a:solidFill>
          <a:ln/>
        </p:spPr>
      </p:sp>
      <p:pic>
        <p:nvPicPr>
          <p:cNvPr id="9" name="Image 0" descr="/home/user/orbitpm-ai/deck-assets/icons/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2432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" y="3154680"/>
            <a:ext cx="17775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control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4944" y="3794760"/>
            <a:ext cx="17775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portfolio, dashboards, Kanban/Gantt, risk &amp; budget — today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4944" y="5074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" y="5074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81374" y="149961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Shape 12"/>
          <p:cNvSpPr/>
          <p:nvPr/>
        </p:nvSpPr>
        <p:spPr>
          <a:xfrm>
            <a:off x="2801722" y="1965960"/>
            <a:ext cx="2051914" cy="3566160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48026" y="2148840"/>
            <a:ext cx="1777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48026" y="249631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563EB"/>
          </a:solidFill>
          <a:ln/>
        </p:spPr>
      </p:sp>
      <p:pic>
        <p:nvPicPr>
          <p:cNvPr id="18" name="Image 1" descr="/home/user/orbitpm-ai/deck-assets/icons/cpu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042" y="262432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948026" y="3154680"/>
            <a:ext cx="17775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enhancement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948026" y="3794760"/>
            <a:ext cx="17775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Xyro reasoning, proactive digests, meeting summaries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934456" y="1499616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Shape 18"/>
          <p:cNvSpPr/>
          <p:nvPr/>
        </p:nvSpPr>
        <p:spPr>
          <a:xfrm>
            <a:off x="5054803" y="1965960"/>
            <a:ext cx="2051914" cy="3566160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01107" y="2148840"/>
            <a:ext cx="1777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201107" y="249631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0891B2"/>
          </a:solidFill>
          <a:ln/>
        </p:spPr>
      </p:sp>
      <p:pic>
        <p:nvPicPr>
          <p:cNvPr id="25" name="Image 2" descr="/home/user/orbitpm-ai/deck-assets/icons/lay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123" y="262432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01107" y="3154680"/>
            <a:ext cx="17775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integration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201107" y="3794760"/>
            <a:ext cx="17775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Outlook, SSO, BI &amp; warehouse connectors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187538" y="1499616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Shape 24"/>
          <p:cNvSpPr/>
          <p:nvPr/>
        </p:nvSpPr>
        <p:spPr>
          <a:xfrm>
            <a:off x="7307885" y="1965960"/>
            <a:ext cx="2051914" cy="3566160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454189" y="2148840"/>
            <a:ext cx="1777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454189" y="249631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7C3AED"/>
          </a:solidFill>
          <a:ln/>
        </p:spPr>
      </p:sp>
      <p:pic>
        <p:nvPicPr>
          <p:cNvPr id="32" name="Image 3" descr="/home/user/orbitpm-ai/deck-assets/icons/trendin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205" y="2624328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54189" y="3154680"/>
            <a:ext cx="17775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portfolio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7454189" y="3794760"/>
            <a:ext cx="17775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slips, overruns &amp; capacity crunches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10440619" y="1499616"/>
            <a:ext cx="292608" cy="292608"/>
          </a:xfrm>
          <a:prstGeom prst="ellipse">
            <a:avLst/>
          </a:prstGeom>
          <a:solidFill>
            <a:srgbClr val="0F2350"/>
          </a:solidFill>
          <a:ln/>
        </p:spPr>
      </p:sp>
      <p:sp>
        <p:nvSpPr>
          <p:cNvPr id="36" name="Shape 30"/>
          <p:cNvSpPr/>
          <p:nvPr/>
        </p:nvSpPr>
        <p:spPr>
          <a:xfrm>
            <a:off x="9560966" y="1965960"/>
            <a:ext cx="2051914" cy="3566160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707270" y="2148840"/>
            <a:ext cx="1777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9707270" y="2496312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0F2350"/>
          </a:solidFill>
          <a:ln/>
        </p:spPr>
      </p:sp>
      <p:pic>
        <p:nvPicPr>
          <p:cNvPr id="39" name="Image 4" descr="/home/user/orbitpm-ai/deck-assets/icons/zap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5286" y="2624328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707270" y="3154680"/>
            <a:ext cx="17775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delivery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9707270" y="3794760"/>
            <a:ext cx="17775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Xyro drafts plans, rebalances load, triggers workflows</a:t>
            </a:r>
            <a:endParaRPr lang="en-US" sz="1050" dirty="0"/>
          </a:p>
        </p:txBody>
      </p:sp>
      <p:pic>
        <p:nvPicPr>
          <p:cNvPr id="42" name="Image 5" descr="/home/user/orbitpm-ai/public/logo-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00800"/>
            <a:ext cx="1234440" cy="195669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3808476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Project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rbitpm-ai/public/logo-ful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4236" y="1234440"/>
            <a:ext cx="3840480" cy="837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6060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AI Project Intelligence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strategy to execution, powered by intelligence.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168396" y="4434840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3168396" y="44348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 executive walkthrough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51676" y="4434840"/>
            <a:ext cx="2468880" cy="658368"/>
          </a:xfrm>
          <a:prstGeom prst="roundRect">
            <a:avLst>
              <a:gd name="adj" fmla="val 16667"/>
            </a:avLst>
          </a:prstGeom>
          <a:ln w="19050">
            <a:solidFill>
              <a:srgbClr val="2A4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51676" y="4434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live pilot</a:t>
            </a:r>
            <a:endParaRPr lang="en-US" sz="1300" dirty="0"/>
          </a:p>
        </p:txBody>
      </p:sp>
      <p:pic>
        <p:nvPicPr>
          <p:cNvPr id="9" name="Image 1" descr="/home/user/orbitpm-ai/deck-assets/brand/xy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56" y="5349240"/>
            <a:ext cx="1463040" cy="1463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63550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xyrenis.app   ·   Where strategy meets execution.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Xyrenis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Xyrenis</dc:creator>
  <cp:lastModifiedBy>Xyrenis</cp:lastModifiedBy>
  <cp:revision>1</cp:revision>
  <dcterms:created xsi:type="dcterms:W3CDTF">2026-08-01T19:31:13Z</dcterms:created>
  <dcterms:modified xsi:type="dcterms:W3CDTF">2026-08-01T19:31:13Z</dcterms:modified>
</cp:coreProperties>
</file>