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9.png"/><Relationship Id="rId11" Type="http://schemas.openxmlformats.org/officeDocument/2006/relationships/image" Target="../media/image-2-9.png"/><Relationship Id="rId12" Type="http://schemas.openxmlformats.org/officeDocument/2006/relationships/image" Target="../media/image-2-9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6.png"/><Relationship Id="rId8" Type="http://schemas.openxmlformats.org/officeDocument/2006/relationships/image" Target="../media/image-21-6.png"/><Relationship Id="rId9" Type="http://schemas.openxmlformats.org/officeDocument/2006/relationships/image" Target="../media/image-21-6.png"/><Relationship Id="rId10" Type="http://schemas.openxmlformats.org/officeDocument/2006/relationships/image" Target="../media/image-21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XYRENIS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Enterprise Project &amp; Portfolio Management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2880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strategy meets execution.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3611880"/>
            <a:ext cx="621792" cy="384048"/>
          </a:xfrm>
          <a:prstGeom prst="roundRect">
            <a:avLst>
              <a:gd name="adj" fmla="val 47619"/>
            </a:avLst>
          </a:prstGeom>
          <a:solidFill>
            <a:srgbClr val="17305A"/>
          </a:solidFill>
          <a:ln w="12700">
            <a:solidFill>
              <a:srgbClr val="2A4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6118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44752" y="3611880"/>
            <a:ext cx="1225296" cy="384048"/>
          </a:xfrm>
          <a:prstGeom prst="roundRect">
            <a:avLst>
              <a:gd name="adj" fmla="val 47619"/>
            </a:avLst>
          </a:prstGeom>
          <a:solidFill>
            <a:srgbClr val="17305A"/>
          </a:solidFill>
          <a:ln w="12700">
            <a:solidFill>
              <a:srgbClr val="2A4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44752" y="361188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/ CTO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3611880"/>
            <a:ext cx="621792" cy="384048"/>
          </a:xfrm>
          <a:prstGeom prst="roundRect">
            <a:avLst>
              <a:gd name="adj" fmla="val 47619"/>
            </a:avLst>
          </a:prstGeom>
          <a:solidFill>
            <a:srgbClr val="17305A"/>
          </a:solidFill>
          <a:ln w="12700">
            <a:solidFill>
              <a:srgbClr val="2A4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6118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21024" y="3611880"/>
            <a:ext cx="1627632" cy="384048"/>
          </a:xfrm>
          <a:prstGeom prst="roundRect">
            <a:avLst>
              <a:gd name="adj" fmla="val 47619"/>
            </a:avLst>
          </a:prstGeom>
          <a:solidFill>
            <a:srgbClr val="17305A"/>
          </a:solidFill>
          <a:ln w="12700">
            <a:solidFill>
              <a:srgbClr val="2A4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361188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3248" y="3611880"/>
            <a:ext cx="1225296" cy="384048"/>
          </a:xfrm>
          <a:prstGeom prst="roundRect">
            <a:avLst>
              <a:gd name="adj" fmla="val 47619"/>
            </a:avLst>
          </a:prstGeom>
          <a:solidFill>
            <a:srgbClr val="17305A"/>
          </a:solidFill>
          <a:ln w="12700">
            <a:solidFill>
              <a:srgbClr val="2A4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3248" y="361188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briefing · Product vision, capabilities &amp; business case</a:t>
            </a:r>
            <a:endParaRPr lang="en-US" sz="1100" dirty="0"/>
          </a:p>
        </p:txBody>
      </p:sp>
      <p:pic>
        <p:nvPicPr>
          <p:cNvPr id="16" name="Image 0" descr="/home/user/orbitpm-ai/deck-assets/framed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051560"/>
            <a:ext cx="5852160" cy="38714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Enterprises don’t fail at strategy — they fail at execution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large transformation programmes miss their targets. The cause is rarely the plan; it is fragmented tooling, blind spots and manual governance that hide problems until they are expensive.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620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pic>
        <p:nvPicPr>
          <p:cNvPr id="6" name="Image 0" descr="/home/user/orbitpm-ai/deck-assets/icons/folder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94436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8620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scattered across Excel &amp; email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3467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pic>
        <p:nvPicPr>
          <p:cNvPr id="9" name="Image 1" descr="/home/user/orbitpm-ai/deck-assets/icons/eye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42900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3467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the portfolio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831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pic>
        <p:nvPicPr>
          <p:cNvPr id="12" name="Image 2" descr="/home/user/orbitpm-ai/deck-assets/icons/users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91363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8313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ownership &amp; accountability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43159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pic>
        <p:nvPicPr>
          <p:cNvPr id="15" name="Image 3" descr="/home/user/orbitpm-ai/deck-assets/icons/dollar-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4398264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43159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leakage, discovered too late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4800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pic>
        <p:nvPicPr>
          <p:cNvPr id="18" name="Image 4" descr="/home/user/orbitpm-ai/deck-assets/icons/shield-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4882896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8006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portfolio-level governance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48640" y="5285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pic>
        <p:nvPicPr>
          <p:cNvPr id="21" name="Image 5" descr="/home/user/orbitpm-ai/deck-assets/icons/clock-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5367528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52852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assembled by hand, weekly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548640" y="57698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pic>
        <p:nvPicPr>
          <p:cNvPr id="24" name="Image 6" descr="/home/user/orbitpm-ai/deck-assets/icons/message-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" y="5852160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97280" y="57698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Siloed, disconnected communication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6492240" y="1554480"/>
            <a:ext cx="5148072" cy="4754880"/>
          </a:xfrm>
          <a:prstGeom prst="roundRect">
            <a:avLst>
              <a:gd name="adj" fmla="val 2308"/>
            </a:avLst>
          </a:prstGeom>
          <a:solidFill>
            <a:srgbClr val="0F2350"/>
          </a:solidFill>
          <a:ln/>
        </p:spPr>
      </p:sp>
      <p:pic>
        <p:nvPicPr>
          <p:cNvPr id="27" name="Image 7" descr="/home/user/orbitpm-ai/deck-assets/icons/zap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1874520"/>
            <a:ext cx="457200" cy="4572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45236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Xyrenis answer</a:t>
            </a:r>
            <a:endParaRPr lang="en-US" sz="2000" dirty="0"/>
          </a:p>
        </p:txBody>
      </p:sp>
      <p:sp>
        <p:nvSpPr>
          <p:cNvPr id="29" name="Text 19"/>
          <p:cNvSpPr/>
          <p:nvPr/>
        </p:nvSpPr>
        <p:spPr>
          <a:xfrm>
            <a:off x="6858000" y="25146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AI-native platform that unifies planning, execution, portfolio governance and reporting — with an intelligent copilot, Xyro, embedded in every workflow.</a:t>
            </a:r>
            <a:endParaRPr lang="en-US" sz="1400" dirty="0"/>
          </a:p>
        </p:txBody>
      </p:sp>
      <p:pic>
        <p:nvPicPr>
          <p:cNvPr id="30" name="Image 8" descr="/home/user/orbitpm-ai/deck-assets/icons/check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3822192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269480" y="37947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of record, not ten tools</a:t>
            </a:r>
            <a:endParaRPr lang="en-US" sz="1300" dirty="0"/>
          </a:p>
        </p:txBody>
      </p:sp>
      <p:pic>
        <p:nvPicPr>
          <p:cNvPr id="32" name="Image 9" descr="/home/user/orbitpm-ai/deck-assets/icons/check-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4389120"/>
            <a:ext cx="256032" cy="25603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269480" y="43616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visibility across the portfolio</a:t>
            </a:r>
            <a:endParaRPr lang="en-US" sz="1300" dirty="0"/>
          </a:p>
        </p:txBody>
      </p:sp>
      <p:pic>
        <p:nvPicPr>
          <p:cNvPr id="34" name="Image 10" descr="/home/user/orbitpm-ai/deck-assets/icons/check-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0" y="4956048"/>
            <a:ext cx="256032" cy="256032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7269480" y="49286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turns data into decisions</a:t>
            </a:r>
            <a:endParaRPr lang="en-US" sz="1300" dirty="0"/>
          </a:p>
        </p:txBody>
      </p:sp>
      <p:pic>
        <p:nvPicPr>
          <p:cNvPr id="36" name="Image 11" descr="/home/user/orbitpm-ai/deck-assets/icons/check-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5522976"/>
            <a:ext cx="256032" cy="256032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7269480" y="549554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by department &amp; ownership</a:t>
            </a:r>
            <a:endParaRPr lang="en-US" sz="1300" dirty="0"/>
          </a:p>
        </p:txBody>
      </p:sp>
      <p:sp>
        <p:nvSpPr>
          <p:cNvPr id="38" name="Text 24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39" name="Text 25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Text 26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poor project visibility is measurable — and large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88336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2024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288036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transformation programmes miss cost, time or value targets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01568" y="1691640"/>
            <a:ext cx="2688336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192024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02736" y="288036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for every $1B spent, on average, due to poor performance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1691640"/>
            <a:ext cx="2688336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92024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55664" y="288036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PMO leaders lack real-time visibility into portfolio health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07424" y="1691640"/>
            <a:ext cx="2688336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3144" y="192024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13hrs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308592" y="288036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manager per week spent assembling status reports by hand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compounds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00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200" dirty="0"/>
          </a:p>
        </p:txBody>
      </p:sp>
      <p:pic>
        <p:nvPicPr>
          <p:cNvPr id="19" name="Image 0" descr="/home/user/orbitpm-ai/deck-assets/icons/arrow-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5084064"/>
            <a:ext cx="274320" cy="2743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2926080" y="480060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EEF2FB"/>
          </a:solidFill>
          <a:ln/>
        </p:spPr>
      </p:sp>
      <p:sp>
        <p:nvSpPr>
          <p:cNvPr id="21" name="Text 18"/>
          <p:cNvSpPr/>
          <p:nvPr/>
        </p:nvSpPr>
        <p:spPr>
          <a:xfrm>
            <a:off x="3017520" y="4800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</a:t>
            </a:r>
            <a:endParaRPr lang="en-US" sz="1200" dirty="0"/>
          </a:p>
        </p:txBody>
      </p:sp>
      <p:pic>
        <p:nvPicPr>
          <p:cNvPr id="22" name="Image 1" descr="/home/user/orbitpm-ai/deck-assets/icons/arrow-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084064"/>
            <a:ext cx="274320" cy="2743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303520" y="480060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EEF2FB"/>
          </a:solidFill>
          <a:ln/>
        </p:spPr>
      </p:sp>
      <p:sp>
        <p:nvSpPr>
          <p:cNvPr id="24" name="Text 20"/>
          <p:cNvSpPr/>
          <p:nvPr/>
        </p:nvSpPr>
        <p:spPr>
          <a:xfrm>
            <a:off x="5394960" y="4800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escalation</a:t>
            </a:r>
            <a:endParaRPr lang="en-US" sz="1200" dirty="0"/>
          </a:p>
        </p:txBody>
      </p:sp>
      <p:pic>
        <p:nvPicPr>
          <p:cNvPr id="25" name="Image 2" descr="/home/user/orbitpm-ai/deck-assets/icons/arrow-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084064"/>
            <a:ext cx="274320" cy="2743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7680960" y="480060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EEF2FB"/>
          </a:solidFill>
          <a:ln/>
        </p:spPr>
      </p:sp>
      <p:sp>
        <p:nvSpPr>
          <p:cNvPr id="27" name="Text 22"/>
          <p:cNvSpPr/>
          <p:nvPr/>
        </p:nvSpPr>
        <p:spPr>
          <a:xfrm>
            <a:off x="7772400" y="4800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schedule overrun</a:t>
            </a:r>
            <a:endParaRPr lang="en-US" sz="1200" dirty="0"/>
          </a:p>
        </p:txBody>
      </p:sp>
      <p:pic>
        <p:nvPicPr>
          <p:cNvPr id="28" name="Image 3" descr="/home/user/orbitpm-ai/deck-assets/icons/arrow-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5084064"/>
            <a:ext cx="274320" cy="27432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0058400" y="480060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FBEBEA"/>
          </a:solidFill>
          <a:ln/>
        </p:spPr>
      </p:sp>
      <p:sp>
        <p:nvSpPr>
          <p:cNvPr id="30" name="Text 24"/>
          <p:cNvSpPr/>
          <p:nvPr/>
        </p:nvSpPr>
        <p:spPr>
          <a:xfrm>
            <a:off x="10149840" y="4800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executive trust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across the full delivery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1965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563EB"/>
          </a:solidFill>
          <a:ln/>
        </p:spPr>
      </p:sp>
      <p:pic>
        <p:nvPicPr>
          <p:cNvPr id="6" name="Image 0" descr="/home/user/orbitpm-ai/deck-assets/icons/compas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568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2898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Roadmaps, milestones &amp; structured intake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1600200"/>
            <a:ext cx="2688336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02736" y="181965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891B2"/>
          </a:solidFill>
          <a:ln/>
        </p:spPr>
      </p:sp>
      <p:pic>
        <p:nvPicPr>
          <p:cNvPr id="11" name="Image 1" descr="/home/user/orbitpm-ai/deck-assets/icons/gri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19568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2736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02736" y="2898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Kanban, Gantt &amp; dependencies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54496" y="1600200"/>
            <a:ext cx="2688336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55664" y="181965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7C3AED"/>
          </a:solidFill>
          <a:ln/>
        </p:spPr>
      </p:sp>
      <p:pic>
        <p:nvPicPr>
          <p:cNvPr id="16" name="Image 2" descr="/home/user/orbitpm-ai/deck-assets/icons/briefcas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195681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Governance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55664" y="2898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Departments, ownership &amp; prioritisation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07424" y="1600200"/>
            <a:ext cx="2688336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08592" y="181965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2350"/>
          </a:solidFill>
          <a:ln/>
        </p:spPr>
      </p:sp>
      <p:pic>
        <p:nvPicPr>
          <p:cNvPr id="21" name="Image 3" descr="/home/user/orbitpm-ai/deck-assets/icons/cpu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2" y="195681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08592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08592" y="2898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Xyro copilot embedded in every view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1975104" y="3794760"/>
            <a:ext cx="2688336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176272" y="401421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59669"/>
          </a:solidFill>
          <a:ln/>
        </p:spPr>
      </p:sp>
      <p:pic>
        <p:nvPicPr>
          <p:cNvPr id="26" name="Image 4" descr="/home/user/orbitpm-ai/deck-assets/icons/pi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3432" y="415137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76272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2176272" y="5093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&amp; one-click exec exports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828032" y="3794760"/>
            <a:ext cx="2688336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029200" y="401421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97706"/>
          </a:solidFill>
          <a:ln/>
        </p:spPr>
      </p:sp>
      <p:pic>
        <p:nvPicPr>
          <p:cNvPr id="31" name="Image 5" descr="/home/user/orbitpm-ai/deck-assets/icons/zap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415137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029200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5029200" y="5093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approvals &amp; workflow triggers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7680960" y="3794760"/>
            <a:ext cx="2688336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882128" y="401421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DC2626"/>
          </a:solidFill>
          <a:ln/>
        </p:spPr>
      </p:sp>
      <p:pic>
        <p:nvPicPr>
          <p:cNvPr id="36" name="Image 6" descr="/home/user/orbitpm-ai/deck-assets/icons/target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9288" y="4151376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882128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Making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7882128" y="5093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budget &amp; capacity intelligence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operating system for enterprise delivery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385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pic>
        <p:nvPicPr>
          <p:cNvPr id="6" name="Image 0" descr="/home/user/orbitpm-ai/deck-assets/icons/layout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756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645920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74136" y="164592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57016" y="19385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pic>
        <p:nvPicPr>
          <p:cNvPr id="10" name="Image 1" descr="/home/user/orbitpm-ai/deck-assets/icons/grid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07568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70248" y="1645920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99632" y="164592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82512" y="19385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pic>
        <p:nvPicPr>
          <p:cNvPr id="14" name="Image 2" descr="/home/user/orbitpm-ai/deck-assets/icons/briefcase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07568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5744" y="1645920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025128" y="164592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208008" y="19385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pic>
        <p:nvPicPr>
          <p:cNvPr id="18" name="Image 3" descr="/home/user/orbitpm-ai/deck-assets/icons/check-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207568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921240" y="1645920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301752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31520" y="33101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pic>
        <p:nvPicPr>
          <p:cNvPr id="22" name="Image 4" descr="/home/user/orbitpm-ai/deck-assets/icons/columns-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4728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44752" y="3017520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3374136" y="301752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557016" y="33101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pic>
        <p:nvPicPr>
          <p:cNvPr id="26" name="Image 5" descr="/home/user/orbitpm-ai/deck-assets/icons/calendar-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176" y="344728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270248" y="3017520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6199632" y="301752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382512" y="33101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pic>
        <p:nvPicPr>
          <p:cNvPr id="30" name="Image 6" descr="/home/user/orbitpm-ai/deck-assets/icons/bar-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3447288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95744" y="3017520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9025128" y="301752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208008" y="33101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pic>
        <p:nvPicPr>
          <p:cNvPr id="34" name="Image 7" descr="/home/user/orbitpm-ai/deck-assets/icons/pie-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447288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921240" y="3017520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600" dirty="0"/>
          </a:p>
        </p:txBody>
      </p:sp>
      <p:sp>
        <p:nvSpPr>
          <p:cNvPr id="36" name="Shape 26"/>
          <p:cNvSpPr/>
          <p:nvPr/>
        </p:nvSpPr>
        <p:spPr>
          <a:xfrm>
            <a:off x="548640" y="438912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731520" y="46817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pic>
        <p:nvPicPr>
          <p:cNvPr id="38" name="Image 8" descr="/home/user/orbitpm-ai/deck-assets/icons/dollar-acc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481888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444752" y="4389120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Budgets</a:t>
            </a:r>
            <a:endParaRPr lang="en-US" sz="1600" dirty="0"/>
          </a:p>
        </p:txBody>
      </p:sp>
      <p:sp>
        <p:nvSpPr>
          <p:cNvPr id="40" name="Shape 29"/>
          <p:cNvSpPr/>
          <p:nvPr/>
        </p:nvSpPr>
        <p:spPr>
          <a:xfrm>
            <a:off x="3374136" y="438912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3557016" y="46817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pic>
        <p:nvPicPr>
          <p:cNvPr id="42" name="Image 9" descr="/home/user/orbitpm-ai/deck-assets/icons/zap-acc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4176" y="4818888"/>
            <a:ext cx="292608" cy="29260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270248" y="4389120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44" name="Shape 32"/>
          <p:cNvSpPr/>
          <p:nvPr/>
        </p:nvSpPr>
        <p:spPr>
          <a:xfrm>
            <a:off x="6199632" y="438912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6382512" y="46817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pic>
        <p:nvPicPr>
          <p:cNvPr id="46" name="Image 10" descr="/home/user/orbitpm-ai/deck-assets/icons/cpu-acce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9672" y="4818888"/>
            <a:ext cx="292608" cy="292608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7095744" y="4389120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Xyro AI</a:t>
            </a:r>
            <a:endParaRPr lang="en-US" sz="1600" dirty="0"/>
          </a:p>
        </p:txBody>
      </p:sp>
      <p:sp>
        <p:nvSpPr>
          <p:cNvPr id="48" name="Shape 35"/>
          <p:cNvSpPr/>
          <p:nvPr/>
        </p:nvSpPr>
        <p:spPr>
          <a:xfrm>
            <a:off x="9025128" y="4389120"/>
            <a:ext cx="2651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9208008" y="46817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EF2FB"/>
          </a:solidFill>
          <a:ln/>
        </p:spPr>
      </p:sp>
      <p:pic>
        <p:nvPicPr>
          <p:cNvPr id="50" name="Image 11" descr="/home/user/orbitpm-ai/deck-assets/icons/shield-accen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5168" y="4818888"/>
            <a:ext cx="292608" cy="29260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9921240" y="4389120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600" dirty="0"/>
          </a:p>
        </p:txBody>
      </p:sp>
      <p:sp>
        <p:nvSpPr>
          <p:cNvPr id="52" name="Text 38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53" name="Text 39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Text 40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COMMAND CENTER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dashboard, updated in real time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live view of the entire portfolio — status, health, risk and capacity — the moment leaders open the app.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6" name="Image 0" descr="/home/user/orbitpm-ai/deck-assets/icons/eye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80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at a glance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3856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mix, on-track vs at-risk, avg progress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666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0" name="Image 1" descr="/home/user/orbitpm-ai/deck-assets/icons/zap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7673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3639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856" y="39227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Xyro surfaces what needs attention today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531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4" name="Image 2" descr="/home/user/orbitpm-ai/deck-assets/icons/activity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537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4425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trail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33856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and alert, auto-logged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852160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pic>
        <p:nvPicPr>
          <p:cNvPr id="18" name="Image 3" descr="/home/user/orbitpm-ai/deck-assets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9893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852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−75%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 portfolio status answer</a:t>
            </a:r>
            <a:endParaRPr lang="en-US" sz="1500" dirty="0"/>
          </a:p>
        </p:txBody>
      </p:sp>
      <p:pic>
        <p:nvPicPr>
          <p:cNvPr id="20" name="Image 4" descr="/home/user/orbitpm-ai/deck-assets/framed/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5989320" cy="396216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884518" y="1773915"/>
            <a:ext cx="21031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4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957670" y="1874499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16"/>
          <p:cNvSpPr/>
          <p:nvPr/>
        </p:nvSpPr>
        <p:spPr>
          <a:xfrm>
            <a:off x="6957670" y="18744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286854" y="1773915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live KPIs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9519818" y="3596511"/>
            <a:ext cx="22860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4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592970" y="3697095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0"/>
          <p:cNvSpPr/>
          <p:nvPr/>
        </p:nvSpPr>
        <p:spPr>
          <a:xfrm>
            <a:off x="9592970" y="36970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922154" y="3596511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PORTFOLIO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the whole portfolio, not just projects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every initiative up by department, priority and health so executives can steer investment where it matters.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6" name="Image 0" descr="/home/user/orbitpm-ai/deck-assets/icons/briefcase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80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roll-ups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3856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Group, filter and rank by any dimension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666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0" name="Image 1" descr="/home/user/orbitpm-ai/deck-assets/icons/target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7673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3639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&amp; health lenses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856" y="39227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critical few among the many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531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4" name="Image 2" descr="/home/user/orbitpm-ai/deck-assets/icons/shield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537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4425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built in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33856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ownership scoping throughout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852160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pic>
        <p:nvPicPr>
          <p:cNvPr id="18" name="Image 3" descr="/home/user/orbitpm-ai/deck-assets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9893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852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coverage in one view</a:t>
            </a:r>
            <a:endParaRPr lang="en-US" sz="1500" dirty="0"/>
          </a:p>
        </p:txBody>
      </p:sp>
      <p:pic>
        <p:nvPicPr>
          <p:cNvPr id="20" name="Image 4" descr="/home/user/orbitpm-ai/deck-assets/framed/portfoli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5989320" cy="396216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764731" y="1813537"/>
            <a:ext cx="22860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4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837883" y="1914121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16"/>
          <p:cNvSpPr/>
          <p:nvPr/>
        </p:nvSpPr>
        <p:spPr>
          <a:xfrm>
            <a:off x="6837883" y="19141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167067" y="1813537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priority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PROJECT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project, fully instrumented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department, dates, budget, tasks, dependencies and risk — structured on one page, not scattered across files.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6" name="Image 0" descr="/home/user/orbitpm-ai/deck-assets/icons/dollar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80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tracking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3856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utilised and balance, live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666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0" name="Image 1" descr="/home/user/orbitpm-ai/deck-assets/icons/git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7673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3639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&amp; risk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856" y="39227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blockers made visible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531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4" name="Image 2" descr="/home/user/orbitpm-ai/deck-assets/icons/check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537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4425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tasks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33856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Milestones, assignees and progress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852160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pic>
        <p:nvPicPr>
          <p:cNvPr id="18" name="Image 3" descr="/home/user/orbitpm-ai/deck-assets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9893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852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−60%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status-gathering effort per project</a:t>
            </a:r>
            <a:endParaRPr lang="en-US" sz="1500" dirty="0"/>
          </a:p>
        </p:txBody>
      </p:sp>
      <p:pic>
        <p:nvPicPr>
          <p:cNvPr id="20" name="Image 4" descr="/home/user/orbitpm-ai/deck-assets/framed/project-det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5989320" cy="396216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644945" y="2526726"/>
            <a:ext cx="21945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4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718097" y="262731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16"/>
          <p:cNvSpPr/>
          <p:nvPr/>
        </p:nvSpPr>
        <p:spPr>
          <a:xfrm>
            <a:off x="6718097" y="26273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047281" y="252672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in ₹, live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9100566" y="3873863"/>
            <a:ext cx="21945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4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173718" y="3974447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0"/>
          <p:cNvSpPr/>
          <p:nvPr/>
        </p:nvSpPr>
        <p:spPr>
          <a:xfrm>
            <a:off x="9173718" y="39744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502902" y="3873863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 workspace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KANBAN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Flow-based execution the whole team can see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work across Backlog → Completed with assignees, due dates and progress — WIP and bottlenecks become obvious.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6" name="Image 0" descr="/home/user/orbitpm-ai/deck-assets/icons/columns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80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workflow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3856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To-Do, In-Progress, Review, Done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666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0" name="Image 1" descr="/home/user/orbitpm-ai/deck-assets/icons/users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7673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3639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856" y="39227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carries an assignee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531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4" name="Image 2" descr="/home/user/orbitpm-ai/deck-assets/icons/activity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537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4425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33856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and dates on each task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852160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pic>
        <p:nvPicPr>
          <p:cNvPr id="18" name="Image 3" descr="/home/user/orbitpm-ai/deck-assets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9893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852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from visible WIP</a:t>
            </a:r>
            <a:endParaRPr lang="en-US" sz="1500" dirty="0"/>
          </a:p>
        </p:txBody>
      </p:sp>
      <p:pic>
        <p:nvPicPr>
          <p:cNvPr id="20" name="Image 4" descr="/home/user/orbitpm-ai/deck-assets/framed/kanb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5989320" cy="396216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105906" y="2764456"/>
            <a:ext cx="21031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4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179058" y="286504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16"/>
          <p:cNvSpPr/>
          <p:nvPr/>
        </p:nvSpPr>
        <p:spPr>
          <a:xfrm>
            <a:off x="6179058" y="2865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508242" y="27644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 avatars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GANTT &amp;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Schedule, sequence and critical path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work sequences across time, where slack exists and which slips threaten the delivery date.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6" name="Image 0" descr="/home/user/orbitpm-ai/deck-assets/icons/bar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80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view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3856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bars across the full schedule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666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0" name="Image 1" descr="/home/user/orbitpm-ai/deck-assets/icons/git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7673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3639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856" y="39227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made explicit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531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4" name="Image 2" descr="/home/user/orbitpm-ai/deck-assets/icons/clock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537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4425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detection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33856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Overruns surfaced before they cascade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852160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pic>
        <p:nvPicPr>
          <p:cNvPr id="18" name="Image 3" descr="/home/user/orbitpm-ai/deck-assets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9893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852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surprises late in delivery</a:t>
            </a:r>
            <a:endParaRPr lang="en-US" sz="1500" dirty="0"/>
          </a:p>
        </p:txBody>
      </p:sp>
      <p:pic>
        <p:nvPicPr>
          <p:cNvPr id="20" name="Image 4" descr="/home/user/orbitpm-ai/deck-assets/framed/gant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5989320" cy="396216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DEPENDENCIES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cross-functional blockers visible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and external dependencies are classified, owned and mirrored to the department that must act — nothing falls between teams.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6" name="Image 0" descr="/home/user/orbitpm-ai/deck-assets/icons/git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80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&amp; external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3856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with owners and status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666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0" name="Image 1" descr="/home/user/orbitpm-ai/deck-assets/icons/users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7673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3639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visibility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856" y="39227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Mirrored to the dependent team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531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4" name="Image 2" descr="/home/user/orbitpm-ai/deck-assets/icons/alert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537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4425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33856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chains flagged automatically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852160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pic>
        <p:nvPicPr>
          <p:cNvPr id="18" name="Image 3" descr="/home/user/orbitpm-ai/deck-assets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9893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852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caused by hidden dependencies</a:t>
            </a:r>
            <a:endParaRPr lang="en-US" sz="1500" dirty="0"/>
          </a:p>
        </p:txBody>
      </p:sp>
      <p:pic>
        <p:nvPicPr>
          <p:cNvPr id="20" name="Image 4" descr="/home/user/orbitpm-ai/deck-assets/framed/dependenci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5989320" cy="396216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RISK REGISTER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risk, scored and owned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carries impact, likelihood, a computed score, an owner and a mitigation — rolling up into portfolio exposure.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6" name="Image 0" descr="/home/user/orbitpm-ai/deck-assets/icons/alert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80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&amp; severity-ranked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3856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× likelihood, consistently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666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0" name="Image 1" descr="/home/user/orbitpm-ai/deck-assets/icons/users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7673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3639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mitigations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856" y="39227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on every entry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531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4" name="Image 2" descr="/home/user/orbitpm-ai/deck-assets/icons/pie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537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4425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exposure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33856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rolls up to the executive view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852160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pic>
        <p:nvPicPr>
          <p:cNvPr id="18" name="Image 3" descr="/home/user/orbitpm-ai/deck-assets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9893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852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escalation of high-impact risk</a:t>
            </a:r>
            <a:endParaRPr lang="en-US" sz="1500" dirty="0"/>
          </a:p>
        </p:txBody>
      </p:sp>
      <p:pic>
        <p:nvPicPr>
          <p:cNvPr id="20" name="Image 4" descr="/home/user/orbitpm-ai/deck-assets/framed/risk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5989320" cy="396216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525158" y="1892780"/>
            <a:ext cx="22860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4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598310" y="199336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16"/>
          <p:cNvSpPr/>
          <p:nvPr/>
        </p:nvSpPr>
        <p:spPr>
          <a:xfrm>
            <a:off x="6598310" y="19933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927494" y="18927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register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RESOURCE &amp; WORKLOAD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capacity before you commit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by owner, capacity bands and bottleneck detection — so commitments match the team you actually have.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6" name="Image 0" descr="/home/user/orbitpm-ai/deck-assets/icons/users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80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distribution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3856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load per person, ranked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666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0" name="Image 1" descr="/home/user/orbitpm-ai/deck-assets/icons/activity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7673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3639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bands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856" y="39227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/ moderate / overloaded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531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4" name="Image 2" descr="/home/user/orbitpm-ai/deck-assets/icons/target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537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4425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alerts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33856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Over-allocated owners flagged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852160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pic>
        <p:nvPicPr>
          <p:cNvPr id="18" name="Image 3" descr="/home/user/orbitpm-ai/deck-assets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9893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852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resource utilisation</a:t>
            </a:r>
            <a:endParaRPr lang="en-US" sz="1500" dirty="0"/>
          </a:p>
        </p:txBody>
      </p:sp>
      <p:pic>
        <p:nvPicPr>
          <p:cNvPr id="20" name="Image 4" descr="/home/user/orbitpm-ai/deck-assets/framed/workfor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5989320" cy="396216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ANALYTICS &amp; REPORTS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Board-ready analytics, zero manual assembly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 across status, department, priority and trend — exportable to a polished PDF pack in one click.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6" name="Image 0" descr="/home/user/orbitpm-ai/deck-assets/icons/pie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80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analytics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3856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cut of the portfolio, live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666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0" name="Image 1" descr="/home/user/orbitpm-ai/deck-assets/icons/bar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7673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3639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intelligence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856" y="39227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travel, not just today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531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4" name="Image 2" descr="/home/user/orbitpm-ai/deck-assets/icons/check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537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4425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33856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screen to board deck instantly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852160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pic>
        <p:nvPicPr>
          <p:cNvPr id="18" name="Image 3" descr="/home/user/orbitpm-ai/deck-assets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9893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852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 hrs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 saved, per manager / week</a:t>
            </a:r>
            <a:endParaRPr lang="en-US" sz="1500" dirty="0"/>
          </a:p>
        </p:txBody>
      </p:sp>
      <p:pic>
        <p:nvPicPr>
          <p:cNvPr id="20" name="Image 4" descr="/home/user/orbitpm-ai/deck-assets/framed/analytic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5989320" cy="396216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GOVERNANCE &amp; DATA 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and clean data, enforced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by department and subdivision, an immutable audit trail, and an admin data-sanity engine that keeps the register trustworthy.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6" name="Image 0" descr="/home/user/orbitpm-ai/deck-assets/icons/shield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80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3856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subdivision scoping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666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0" name="Image 1" descr="/home/user/orbitpm-ai/deck-assets/icons/database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7673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36393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audit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856" y="39227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owners &amp; gaps, one-click fix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531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2FB"/>
          </a:solidFill>
          <a:ln/>
        </p:spPr>
      </p:sp>
      <p:pic>
        <p:nvPicPr>
          <p:cNvPr id="14" name="Image 2" descr="/home/user/orbitpm-ai/deck-assets/icons/activity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5537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3856" y="4425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33856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privileged action recorded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852160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pic>
        <p:nvPicPr>
          <p:cNvPr id="18" name="Image 3" descr="/home/user/orbitpm-ai/deck-assets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9893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852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register kept demonstrably clean</a:t>
            </a:r>
            <a:endParaRPr lang="en-US" sz="1500" dirty="0"/>
          </a:p>
        </p:txBody>
      </p:sp>
      <p:pic>
        <p:nvPicPr>
          <p:cNvPr id="20" name="Image 4" descr="/home/user/orbitpm-ai/deck-assets/framed/data-san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5989320" cy="396216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Xyro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58368" y="214884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copilot embedded in every workflow — not a bolt-on chatbot.</a:t>
            </a:r>
            <a:endParaRPr lang="en-US" sz="1800" dirty="0"/>
          </a:p>
        </p:txBody>
      </p:sp>
      <p:pic>
        <p:nvPicPr>
          <p:cNvPr id="5" name="Image 0" descr="/home/user/orbitpm-ai/deck-assets/icons/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2186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200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of live portfolio data in plain language</a:t>
            </a:r>
            <a:endParaRPr lang="en-US" sz="1400" dirty="0"/>
          </a:p>
        </p:txBody>
      </p:sp>
      <p:pic>
        <p:nvPicPr>
          <p:cNvPr id="7" name="Image 1" descr="/home/user/orbitpm-ai/deck-assets/icons/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785616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76732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Summarises status, risk and budget variance on demand</a:t>
            </a:r>
            <a:endParaRPr lang="en-US" sz="1400" dirty="0"/>
          </a:p>
        </p:txBody>
      </p:sp>
      <p:pic>
        <p:nvPicPr>
          <p:cNvPr id="9" name="Image 2" descr="/home/user/orbitpm-ai/deck-assets/icons/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352544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33425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 work and recommends the next best action</a:t>
            </a:r>
            <a:endParaRPr lang="en-US" sz="1400" dirty="0"/>
          </a:p>
        </p:txBody>
      </p:sp>
      <p:pic>
        <p:nvPicPr>
          <p:cNvPr id="11" name="Image 3" descr="/home/user/orbitpm-ai/deck-assets/icons/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919472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49011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reports, roadmaps and updates automatically</a:t>
            </a:r>
            <a:endParaRPr lang="en-US" sz="1400" dirty="0"/>
          </a:p>
        </p:txBody>
      </p:sp>
      <p:pic>
        <p:nvPicPr>
          <p:cNvPr id="13" name="Image 4" descr="/home/user/orbitpm-ai/deck-assets/framed/xyro-pan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097280"/>
            <a:ext cx="5577840" cy="36899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XYRO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 more than a chatbot — an analyst on every desk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4708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F2350"/>
          </a:solidFill>
          <a:ln/>
        </p:spPr>
      </p:sp>
      <p:pic>
        <p:nvPicPr>
          <p:cNvPr id="6" name="Image 0" descr="/home/user/orbitpm-ai/deck-assets/icons/messag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751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9222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data access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89888" y="219456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across every project in plain English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79392" y="1645920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84708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F2350"/>
          </a:solidFill>
          <a:ln/>
        </p:spPr>
      </p:sp>
      <p:pic>
        <p:nvPicPr>
          <p:cNvPr id="11" name="Image 1" descr="/home/user/orbitpm-ai/deck-assets/icons/activity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9751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9222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summaries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120640" y="219456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roll-ups by project or portfolio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10144" y="1645920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93024" y="184708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F2350"/>
          </a:solidFill>
          <a:ln/>
        </p:spPr>
      </p:sp>
      <p:pic>
        <p:nvPicPr>
          <p:cNvPr id="16" name="Image 2" descr="/home/user/orbitpm-ai/deck-assets/icons/pi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9751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51392" y="179222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851392" y="219456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explained, not just shown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321868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F2350"/>
          </a:solidFill>
          <a:ln/>
        </p:spPr>
      </p:sp>
      <p:pic>
        <p:nvPicPr>
          <p:cNvPr id="21" name="Image 3" descr="/home/user/orbitpm-ai/deck-assets/icons/alert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3467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316382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389888" y="356616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exposure before it escalates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79392" y="3017520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62272" y="321868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F2350"/>
          </a:solidFill>
          <a:ln/>
        </p:spPr>
      </p:sp>
      <p:pic>
        <p:nvPicPr>
          <p:cNvPr id="26" name="Image 4" descr="/home/user/orbitpm-ai/deck-assets/icons/dollar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334670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16382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120640" y="356616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why behind the numbers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10144" y="3017520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93024" y="321868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F2350"/>
          </a:solidFill>
          <a:ln/>
        </p:spPr>
      </p:sp>
      <p:pic>
        <p:nvPicPr>
          <p:cNvPr id="31" name="Image 5" descr="/home/user/orbitpm-ai/deck-assets/icons/target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34670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51392" y="316382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prioritisation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851392" y="356616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next best action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389120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31520" y="459028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F2350"/>
          </a:solidFill>
          <a:ln/>
        </p:spPr>
      </p:sp>
      <p:pic>
        <p:nvPicPr>
          <p:cNvPr id="36" name="Image 6" descr="/home/user/orbitpm-ai/deck-assets/icons/search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4718304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89888" y="453542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1389888" y="493776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anything across the register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279392" y="4389120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462272" y="459028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F2350"/>
          </a:solidFill>
          <a:ln/>
        </p:spPr>
      </p:sp>
      <p:pic>
        <p:nvPicPr>
          <p:cNvPr id="41" name="Image 7" descr="/home/user/orbitpm-ai/deck-assets/icons/trending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0288" y="4718304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20640" y="453542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5120640" y="493776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likely slips ahead of time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010144" y="4389120"/>
            <a:ext cx="3529584" cy="1170432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193024" y="459028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F2350"/>
          </a:solidFill>
          <a:ln/>
        </p:spPr>
      </p:sp>
      <p:pic>
        <p:nvPicPr>
          <p:cNvPr id="46" name="Image 8" descr="/home/user/orbitpm-ai/deck-assets/icons/check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4718304"/>
            <a:ext cx="256032" cy="25603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851392" y="453542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reports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8851392" y="493776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output on demand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Xyrenis stands apart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75488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002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0" y="1600200"/>
            <a:ext cx="124968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160520" y="1600200"/>
            <a:ext cx="115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64480" y="1600200"/>
            <a:ext cx="1249680" cy="475488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9" name="Text 7"/>
          <p:cNvSpPr/>
          <p:nvPr/>
        </p:nvSpPr>
        <p:spPr>
          <a:xfrm>
            <a:off x="5410200" y="1600200"/>
            <a:ext cx="115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14160" y="1600200"/>
            <a:ext cx="1249680" cy="475488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11" name="Text 9"/>
          <p:cNvSpPr/>
          <p:nvPr/>
        </p:nvSpPr>
        <p:spPr>
          <a:xfrm>
            <a:off x="6659880" y="1600200"/>
            <a:ext cx="115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Project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1600200"/>
            <a:ext cx="1249680" cy="475488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1600200"/>
            <a:ext cx="115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13520" y="1600200"/>
            <a:ext cx="1249680" cy="475488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15" name="Text 13"/>
          <p:cNvSpPr/>
          <p:nvPr/>
        </p:nvSpPr>
        <p:spPr>
          <a:xfrm>
            <a:off x="9159240" y="1600200"/>
            <a:ext cx="115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363200" y="1600200"/>
            <a:ext cx="1249680" cy="475488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408920" y="1600200"/>
            <a:ext cx="115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075688"/>
            <a:ext cx="11064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0756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on live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2075688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64480" y="2075688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14160" y="2075688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63840" y="2075688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13520" y="2075688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63200" y="2075688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2478024"/>
            <a:ext cx="1106424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24780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2478024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64480" y="2478024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14160" y="2478024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63840" y="2478024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13520" y="2478024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363200" y="2478024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2880360"/>
            <a:ext cx="11064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28803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subdivision hierarchy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0" y="2880360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64480" y="2880360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14160" y="2880360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863840" y="2880360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13520" y="2880360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363200" y="2880360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3282696"/>
            <a:ext cx="1106424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2826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0" y="3282696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64480" y="3282696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614160" y="3282696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863840" y="3282696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113520" y="3282696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363200" y="3282696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3685032"/>
            <a:ext cx="11064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36850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governance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114800" y="3685032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364480" y="3685032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14160" y="3685032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863840" y="3685032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113520" y="3685032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0363200" y="3685032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48640" y="4087368"/>
            <a:ext cx="1106424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8368" y="40873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+ Kanban + Dependencies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114800" y="4087368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364480" y="4087368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614160" y="4087368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863840" y="4087368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9113520" y="4087368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10363200" y="4087368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548640" y="4489704"/>
            <a:ext cx="11064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" y="44897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&amp; capacity planning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114800" y="4489704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5364480" y="4489704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614160" y="4489704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7863840" y="4489704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9113520" y="4489704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10363200" y="4489704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548640" y="4892040"/>
            <a:ext cx="1106424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8368" y="48920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114800" y="4892040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5364480" y="4892040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6614160" y="4892040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7863840" y="4892040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9113520" y="4892040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10363200" y="4892040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548640" y="5294376"/>
            <a:ext cx="11064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8368" y="52943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&amp; audit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114800" y="5294376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5364480" y="5294376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6614160" y="5294376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7863840" y="5294376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9113520" y="5294376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10363200" y="5294376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548640" y="5696712"/>
            <a:ext cx="1106424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8368" y="56967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portfolio insight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114800" y="5696712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5364480" y="5696712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4" name="Text 92"/>
          <p:cNvSpPr/>
          <p:nvPr/>
        </p:nvSpPr>
        <p:spPr>
          <a:xfrm>
            <a:off x="6614160" y="5696712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5" name="Text 93"/>
          <p:cNvSpPr/>
          <p:nvPr/>
        </p:nvSpPr>
        <p:spPr>
          <a:xfrm>
            <a:off x="7863840" y="5696712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9113520" y="5696712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10363200" y="5696712"/>
            <a:ext cx="124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548640" y="6190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  </a:t>
            </a:r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 </a:t>
            </a:r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  </a:t>
            </a:r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enterprises choose Xyrenis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6537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6" name="Image 0" descr="/home/user/orbitpm-ai/deck-assets/icons/lay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0253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1460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Unified, not fragmented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85292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replaces a stack of disconnected point tools.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79392" y="1645920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86537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11" name="Image 1" descr="/home/user/orbitpm-ai/deck-assets/icons/cpu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0253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51460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AI-native, not bolted 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80560" y="285292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Xyro is embedded in every view — intelligence where work happens.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645920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11312" y="186537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16" name="Image 2" descr="/home/user/orbitpm-ai/deck-assets/icons/ey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00253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1312" y="251460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visibility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11312" y="285292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line of sight from strategy to the task.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602736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82219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21" name="Image 3" descr="/home/user/orbitpm-ai/deck-assets/icons/shiel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93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47141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by design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" y="4809744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Departments, subdivisions and ownership enforced end-to-end.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79392" y="3602736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0560" y="382219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26" name="Image 4" descr="/home/user/orbitpm-ai/deck-assets/icons/pi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95935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47141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on data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480560" y="4809744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analytics turn the register into a decision engine.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10144" y="3602736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11312" y="382219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31" name="Image 5" descr="/home/user/orbitpm-ai/deck-assets/icons/zap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395935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11312" y="447141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overhead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11312" y="4809744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removes the manual reporting and chase-ups.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executives can measure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10512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project delivery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94436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sequencing &amp; early slip detection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9392" y="1645920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62272" y="1810512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−13 hrs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80560" y="26060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effort removed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94436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manager, per week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10144" y="1645920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93024" y="1810512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11312" y="26060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utilisation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11312" y="294436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matched to commitments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6732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49808" y="45628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delays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49011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blockers made visible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9392" y="3602736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62272" y="376732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480560" y="45628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visibility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9011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portfolio line of sight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10144" y="3602736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93024" y="376732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+25%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211312" y="45628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success rate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11312" y="49011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accountability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outcomes based on enterprise PPM benchmarks; realised value varies by baseline maturity.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platform fits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" y="1554480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home/user/orbitpm-ai/deck-assets/icons/users-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16916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37944" y="15727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837944" y="184708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· CIO · PMO · Project &amp; Department leads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 rot="5400000">
            <a:off x="4846320" y="2125980"/>
            <a:ext cx="274320" cy="146304"/>
          </a:xfrm>
          <a:prstGeom prst="chevron">
            <a:avLst/>
          </a:prstGeom>
          <a:solidFill>
            <a:srgbClr val="94A3B8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" y="2276856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/>
        </p:spPr>
      </p:sp>
      <p:pic>
        <p:nvPicPr>
          <p:cNvPr id="10" name="Image 1" descr="/home/user/orbitpm-ai/deck-assets/icons/gri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24140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37944" y="229514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 Platform · Modules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837944" y="25694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Projects · Portfolio · Kanban · Gantt · Risk · Budget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 rot="5400000">
            <a:off x="4846320" y="2848356"/>
            <a:ext cx="274320" cy="146304"/>
          </a:xfrm>
          <a:prstGeom prst="chevron">
            <a:avLst/>
          </a:prstGeom>
          <a:solidFill>
            <a:srgbClr val="94A3B8"/>
          </a:solidFill>
          <a:ln/>
        </p:spPr>
      </p:sp>
      <p:sp>
        <p:nvSpPr>
          <p:cNvPr id="14" name="Shape 10"/>
          <p:cNvSpPr/>
          <p:nvPr/>
        </p:nvSpPr>
        <p:spPr>
          <a:xfrm>
            <a:off x="1143000" y="2999232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0F2350"/>
          </a:solidFill>
          <a:ln/>
        </p:spPr>
      </p:sp>
      <p:pic>
        <p:nvPicPr>
          <p:cNvPr id="15" name="Image 2" descr="/home/user/orbitpm-ai/deck-assets/icons/cpu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3136392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37944" y="30175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Xyro AI Engine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837944" y="32918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recommendations grounded on live data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 rot="5400000">
            <a:off x="4846320" y="3570732"/>
            <a:ext cx="274320" cy="146304"/>
          </a:xfrm>
          <a:prstGeom prst="chevron">
            <a:avLst/>
          </a:prstGeom>
          <a:solidFill>
            <a:srgbClr val="94A3B8"/>
          </a:solidFill>
          <a:ln/>
        </p:spPr>
      </p:sp>
      <p:sp>
        <p:nvSpPr>
          <p:cNvPr id="19" name="Shape 14"/>
          <p:cNvSpPr/>
          <p:nvPr/>
        </p:nvSpPr>
        <p:spPr>
          <a:xfrm>
            <a:off x="1143000" y="372160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0891B2"/>
          </a:solidFill>
          <a:ln/>
        </p:spPr>
      </p:sp>
      <p:pic>
        <p:nvPicPr>
          <p:cNvPr id="20" name="Image 3" descr="/home/user/orbitpm-ai/deck-assets/icons/pi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56" y="385876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37944" y="373989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837944" y="401421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trends · portfolio intelligence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 rot="5400000">
            <a:off x="4846320" y="4293108"/>
            <a:ext cx="274320" cy="146304"/>
          </a:xfrm>
          <a:prstGeom prst="chevron">
            <a:avLst/>
          </a:prstGeom>
          <a:solidFill>
            <a:srgbClr val="94A3B8"/>
          </a:solidFill>
          <a:ln/>
        </p:spPr>
      </p:sp>
      <p:sp>
        <p:nvSpPr>
          <p:cNvPr id="24" name="Shape 18"/>
          <p:cNvSpPr/>
          <p:nvPr/>
        </p:nvSpPr>
        <p:spPr>
          <a:xfrm>
            <a:off x="1143000" y="4443984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/>
        </p:spPr>
      </p:sp>
      <p:pic>
        <p:nvPicPr>
          <p:cNvPr id="25" name="Image 4" descr="/home/user/orbitpm-ai/deck-assets/icons/zap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56" y="4581144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37944" y="44622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&amp; Automation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1837944" y="473659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· Outlook · webhooks · alerts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 rot="5400000">
            <a:off x="4846320" y="5015484"/>
            <a:ext cx="274320" cy="146304"/>
          </a:xfrm>
          <a:prstGeom prst="chevron">
            <a:avLst/>
          </a:prstGeom>
          <a:solidFill>
            <a:srgbClr val="94A3B8"/>
          </a:solidFill>
          <a:ln/>
        </p:spPr>
      </p:sp>
      <p:sp>
        <p:nvSpPr>
          <p:cNvPr id="29" name="Shape 22"/>
          <p:cNvSpPr/>
          <p:nvPr/>
        </p:nvSpPr>
        <p:spPr>
          <a:xfrm>
            <a:off x="1143000" y="5166360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059669"/>
          </a:solidFill>
          <a:ln/>
        </p:spPr>
      </p:sp>
      <p:pic>
        <p:nvPicPr>
          <p:cNvPr id="30" name="Image 5" descr="/home/user/orbitpm-ai/deck-assets/icons/che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456" y="5303520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837944" y="51846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Export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1837944" y="54589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PDF packs · board decks · audit trail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9281160" y="155448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0F2350"/>
          </a:solidFill>
          <a:ln/>
        </p:spPr>
      </p:sp>
      <p:sp>
        <p:nvSpPr>
          <p:cNvPr id="34" name="Text 26"/>
          <p:cNvSpPr/>
          <p:nvPr/>
        </p:nvSpPr>
        <p:spPr>
          <a:xfrm>
            <a:off x="946404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</a:t>
            </a:r>
            <a:endParaRPr lang="en-US" sz="1500" dirty="0"/>
          </a:p>
        </p:txBody>
      </p:sp>
      <p:pic>
        <p:nvPicPr>
          <p:cNvPr id="35" name="Image 6" descr="/home/user/orbitpm-ai/deck-assets/icons/check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0" y="2350008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774936" y="22860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system of record</a:t>
            </a:r>
            <a:endParaRPr lang="en-US" sz="1150" dirty="0"/>
          </a:p>
        </p:txBody>
      </p:sp>
      <p:pic>
        <p:nvPicPr>
          <p:cNvPr id="37" name="Image 7" descr="/home/user/orbitpm-ai/deck-assets/icons/check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4040" y="3099816"/>
            <a:ext cx="237744" cy="23774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774936" y="303580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grounded on real data</a:t>
            </a:r>
            <a:endParaRPr lang="en-US" sz="1150" dirty="0"/>
          </a:p>
        </p:txBody>
      </p:sp>
      <p:pic>
        <p:nvPicPr>
          <p:cNvPr id="39" name="Image 8" descr="/home/user/orbitpm-ai/deck-assets/icons/check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3849624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774936" y="3785616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enforced in the data layer</a:t>
            </a:r>
            <a:endParaRPr lang="en-US" sz="1150" dirty="0"/>
          </a:p>
        </p:txBody>
      </p:sp>
      <p:pic>
        <p:nvPicPr>
          <p:cNvPr id="41" name="Image 9" descr="/home/user/orbitpm-ai/deck-assets/icons/check-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4040" y="4599432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774936" y="453542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&amp; enterprise-ready</a:t>
            </a:r>
            <a:endParaRPr lang="en-US" sz="1150" dirty="0"/>
          </a:p>
        </p:txBody>
      </p:sp>
      <p:sp>
        <p:nvSpPr>
          <p:cNvPr id="43" name="Text 31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44" name="Text 32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live control to autonomous delivery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74597" y="1600200"/>
            <a:ext cx="9012326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8293" y="1453896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2051914" cy="3657600"/>
          </a:xfrm>
          <a:prstGeom prst="roundRect">
            <a:avLst>
              <a:gd name="adj" fmla="val 4456"/>
            </a:avLst>
          </a:prstGeom>
          <a:solidFill>
            <a:srgbClr val="ECFDF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103120"/>
            <a:ext cx="1777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" y="24688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pic>
        <p:nvPicPr>
          <p:cNvPr id="9" name="Image 0" descr="/home/user/orbitpm-ai/deck-assets/icons/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6060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944" y="3154680"/>
            <a:ext cx="17775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control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94944" y="3840480"/>
            <a:ext cx="17775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portfolio, dashboards, Kanban/Gantt, risk &amp; budget — available today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4944" y="5120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3" name="Text 10"/>
          <p:cNvSpPr/>
          <p:nvPr/>
        </p:nvSpPr>
        <p:spPr>
          <a:xfrm>
            <a:off x="694944" y="5120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81374" y="145389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Shape 12"/>
          <p:cNvSpPr/>
          <p:nvPr/>
        </p:nvSpPr>
        <p:spPr>
          <a:xfrm>
            <a:off x="2801722" y="1920240"/>
            <a:ext cx="2051914" cy="3657600"/>
          </a:xfrm>
          <a:prstGeom prst="roundRect">
            <a:avLst>
              <a:gd name="adj" fmla="val 44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48026" y="2103120"/>
            <a:ext cx="1777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48026" y="24688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pic>
        <p:nvPicPr>
          <p:cNvPr id="18" name="Image 1" descr="/home/user/orbitpm-ai/deck-assets/icons/cpu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186" y="260604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948026" y="3154680"/>
            <a:ext cx="17775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enhancement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2948026" y="3840480"/>
            <a:ext cx="17775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Xyro reasoning, proactive digests, meeting summaries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934456" y="1453896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Shape 18"/>
          <p:cNvSpPr/>
          <p:nvPr/>
        </p:nvSpPr>
        <p:spPr>
          <a:xfrm>
            <a:off x="5054803" y="1920240"/>
            <a:ext cx="2051914" cy="3657600"/>
          </a:xfrm>
          <a:prstGeom prst="roundRect">
            <a:avLst>
              <a:gd name="adj" fmla="val 44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01107" y="2103120"/>
            <a:ext cx="1777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201107" y="24688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</p:sp>
      <p:pic>
        <p:nvPicPr>
          <p:cNvPr id="25" name="Image 2" descr="/home/user/orbitpm-ai/deck-assets/icons/lay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267" y="260604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01107" y="3154680"/>
            <a:ext cx="17775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integration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5201107" y="3840480"/>
            <a:ext cx="17775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Outlook, SSO, data-warehouse &amp; BI connectors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187538" y="1453896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Shape 24"/>
          <p:cNvSpPr/>
          <p:nvPr/>
        </p:nvSpPr>
        <p:spPr>
          <a:xfrm>
            <a:off x="7307885" y="1920240"/>
            <a:ext cx="2051914" cy="3657600"/>
          </a:xfrm>
          <a:prstGeom prst="roundRect">
            <a:avLst>
              <a:gd name="adj" fmla="val 44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454189" y="2103120"/>
            <a:ext cx="1777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454189" y="24688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pic>
        <p:nvPicPr>
          <p:cNvPr id="32" name="Image 3" descr="/home/user/orbitpm-ai/deck-assets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349" y="260604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54189" y="3154680"/>
            <a:ext cx="17775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portfolio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7454189" y="3840480"/>
            <a:ext cx="17775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slips, budget overruns &amp; capacity crunches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10440619" y="1453896"/>
            <a:ext cx="292608" cy="292608"/>
          </a:xfrm>
          <a:prstGeom prst="ellipse">
            <a:avLst/>
          </a:prstGeom>
          <a:solidFill>
            <a:srgbClr val="0F2350"/>
          </a:solidFill>
          <a:ln/>
        </p:spPr>
      </p:sp>
      <p:sp>
        <p:nvSpPr>
          <p:cNvPr id="36" name="Shape 30"/>
          <p:cNvSpPr/>
          <p:nvPr/>
        </p:nvSpPr>
        <p:spPr>
          <a:xfrm>
            <a:off x="9560966" y="1920240"/>
            <a:ext cx="2051914" cy="3657600"/>
          </a:xfrm>
          <a:prstGeom prst="roundRect">
            <a:avLst>
              <a:gd name="adj" fmla="val 44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707270" y="2103120"/>
            <a:ext cx="1777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9707270" y="24688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F2350"/>
          </a:solidFill>
          <a:ln/>
        </p:spPr>
      </p:sp>
      <p:pic>
        <p:nvPicPr>
          <p:cNvPr id="39" name="Image 4" descr="/home/user/orbitpm-ai/deck-assets/icons/zap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4430" y="2606040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707270" y="3154680"/>
            <a:ext cx="17775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delivery</a:t>
            </a:r>
            <a:endParaRPr lang="en-US" sz="1450" dirty="0"/>
          </a:p>
        </p:txBody>
      </p:sp>
      <p:sp>
        <p:nvSpPr>
          <p:cNvPr id="41" name="Text 34"/>
          <p:cNvSpPr/>
          <p:nvPr/>
        </p:nvSpPr>
        <p:spPr>
          <a:xfrm>
            <a:off x="9707270" y="3840480"/>
            <a:ext cx="17775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Xyro drafts plans, rebalances load &amp; triggers workflows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548640" y="6473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183112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3808476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XYRENIS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AI Project Intelligence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strategy to execution, powered by intelligence.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58368" y="4297680"/>
            <a:ext cx="3017520" cy="65836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42976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 executive walkthrough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0" y="4297680"/>
            <a:ext cx="2468880" cy="658368"/>
          </a:xfrm>
          <a:prstGeom prst="roundRect">
            <a:avLst>
              <a:gd name="adj" fmla="val 16667"/>
            </a:avLst>
          </a:prstGeom>
          <a:ln w="19050">
            <a:solidFill>
              <a:srgbClr val="2A4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429768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live pilot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xyrenis.app   ·   Where strategy meets execution.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Xyrenis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Xyrenis</dc:creator>
  <cp:lastModifiedBy>Xyrenis</cp:lastModifiedBy>
  <cp:revision>1</cp:revision>
  <dcterms:created xsi:type="dcterms:W3CDTF">2026-08-01T19:10:18Z</dcterms:created>
  <dcterms:modified xsi:type="dcterms:W3CDTF">2026-08-01T19:10:18Z</dcterms:modified>
</cp:coreProperties>
</file>